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58" r:id="rId2"/>
    <p:sldId id="260" r:id="rId3"/>
    <p:sldId id="261" r:id="rId4"/>
    <p:sldId id="267" r:id="rId5"/>
    <p:sldId id="263" r:id="rId6"/>
    <p:sldId id="265" r:id="rId7"/>
  </p:sldIdLst>
  <p:sldSz cx="12192000" cy="6858000"/>
  <p:notesSz cx="6858000" cy="9144000"/>
  <p:custDataLst>
    <p:tags r:id="rId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66" autoAdjust="0"/>
    <p:restoredTop sz="65796" autoAdjust="0"/>
  </p:normalViewPr>
  <p:slideViewPr>
    <p:cSldViewPr snapToGrid="0">
      <p:cViewPr varScale="1">
        <p:scale>
          <a:sx n="70" d="100"/>
          <a:sy n="70" d="100"/>
        </p:scale>
        <p:origin x="2040"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tags" Target="tags/tag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5C20BB3-3CCB-4FE5-991B-82F6BCB48AF3}" type="datetimeFigureOut">
              <a:rPr lang="en-US" smtClean="0"/>
              <a:t>10/19/2025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0746DE6-3336-457D-A091-FA20AC1C536E}" type="slidenum">
              <a:rPr lang="en-US" smtClean="0"/>
              <a:t>‹#›</a:t>
            </a:fld>
            <a:endParaRPr lang="en-US"/>
          </a:p>
        </p:txBody>
      </p:sp>
    </p:spTree>
    <p:extLst>
      <p:ext uri="{BB962C8B-B14F-4D97-AF65-F5344CB8AC3E}">
        <p14:creationId xmlns:p14="http://schemas.microsoft.com/office/powerpoint/2010/main" val="8562944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presentation explains the design of the DriverPass system — a web-based platform that helps students prepare for their driving tests. I’ll cover how the system meets client needs, the main workflows, and the design decisions behind its structure and security.</a:t>
            </a:r>
          </a:p>
        </p:txBody>
      </p:sp>
      <p:sp>
        <p:nvSpPr>
          <p:cNvPr id="4" name="Slide Number Placeholder 3"/>
          <p:cNvSpPr>
            <a:spLocks noGrp="1"/>
          </p:cNvSpPr>
          <p:nvPr>
            <p:ph type="sldNum" sz="quarter" idx="10"/>
          </p:nvPr>
        </p:nvSpPr>
        <p:spPr/>
        <p:txBody>
          <a:bodyPr/>
          <a:lstStyle/>
          <a:p>
            <a:fld id="{E0746DE6-3336-457D-A091-FA20AC1C536E}" type="slidenum">
              <a:rPr lang="en-US" smtClean="0"/>
              <a:t>1</a:t>
            </a:fld>
            <a:endParaRPr lang="en-US"/>
          </a:p>
        </p:txBody>
      </p:sp>
    </p:spTree>
    <p:extLst>
      <p:ext uri="{BB962C8B-B14F-4D97-AF65-F5344CB8AC3E}">
        <p14:creationId xmlns:p14="http://schemas.microsoft.com/office/powerpoint/2010/main" val="42162425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DriverPass needed an all-in-one system to handle lessons, practice tests, and progress tracking. The design supports five main roles — students, instructors, secretaries, administrators, and the owner — each with secure access to only what they need. This structure prevents overlap, reduces scheduling errors, and makes the business more efficient.</a:t>
            </a:r>
          </a:p>
        </p:txBody>
      </p:sp>
      <p:sp>
        <p:nvSpPr>
          <p:cNvPr id="4" name="Slide Number Placeholder 3"/>
          <p:cNvSpPr>
            <a:spLocks noGrp="1"/>
          </p:cNvSpPr>
          <p:nvPr>
            <p:ph type="sldNum" sz="quarter" idx="10"/>
          </p:nvPr>
        </p:nvSpPr>
        <p:spPr/>
        <p:txBody>
          <a:bodyPr/>
          <a:lstStyle/>
          <a:p>
            <a:fld id="{E0746DE6-3336-457D-A091-FA20AC1C536E}" type="slidenum">
              <a:rPr lang="en-US" smtClean="0"/>
              <a:t>2</a:t>
            </a:fld>
            <a:endParaRPr lang="en-US"/>
          </a:p>
        </p:txBody>
      </p:sp>
    </p:spTree>
    <p:extLst>
      <p:ext uri="{BB962C8B-B14F-4D97-AF65-F5344CB8AC3E}">
        <p14:creationId xmlns:p14="http://schemas.microsoft.com/office/powerpoint/2010/main" val="3399264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diagram shows the primary system interactions.</a:t>
            </a:r>
            <a:br>
              <a:rPr lang="en-US" dirty="0"/>
            </a:br>
            <a:r>
              <a:rPr lang="en-US" dirty="0"/>
              <a:t>Students and secretaries can schedule or modify lessons, instructors record lesson notes, and admins manage users and DMV question banks. Notifications are automatically sent for bookings and updates. Each actor interacts only with the functions necessary for their role, keeping the system simple and secure.</a:t>
            </a:r>
          </a:p>
        </p:txBody>
      </p:sp>
      <p:sp>
        <p:nvSpPr>
          <p:cNvPr id="4" name="Slide Number Placeholder 3"/>
          <p:cNvSpPr>
            <a:spLocks noGrp="1"/>
          </p:cNvSpPr>
          <p:nvPr>
            <p:ph type="sldNum" sz="quarter" idx="10"/>
          </p:nvPr>
        </p:nvSpPr>
        <p:spPr/>
        <p:txBody>
          <a:bodyPr/>
          <a:lstStyle/>
          <a:p>
            <a:fld id="{E0746DE6-3336-457D-A091-FA20AC1C536E}" type="slidenum">
              <a:rPr lang="en-US" smtClean="0"/>
              <a:t>3</a:t>
            </a:fld>
            <a:endParaRPr lang="en-US"/>
          </a:p>
        </p:txBody>
      </p:sp>
    </p:spTree>
    <p:extLst>
      <p:ext uri="{BB962C8B-B14F-4D97-AF65-F5344CB8AC3E}">
        <p14:creationId xmlns:p14="http://schemas.microsoft.com/office/powerpoint/2010/main" val="22628351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flow models how a student or secretary schedules a lesson.</a:t>
            </a:r>
            <a:br>
              <a:rPr lang="en-US" dirty="0"/>
            </a:br>
            <a:r>
              <a:rPr lang="en-US" dirty="0"/>
              <a:t>It checks for instructor and vehicle conflicts, verifies that the student has credits, and places a temporary hold to prevent double-booking. If payment or credits are available, the system confirms the reservation and sends an email or text confirmation. This automation ensures accuracy and saves administrative time.</a:t>
            </a:r>
          </a:p>
          <a:p>
            <a:endParaRPr lang="en-US" dirty="0"/>
          </a:p>
        </p:txBody>
      </p:sp>
      <p:sp>
        <p:nvSpPr>
          <p:cNvPr id="4" name="Slide Number Placeholder 3"/>
          <p:cNvSpPr>
            <a:spLocks noGrp="1"/>
          </p:cNvSpPr>
          <p:nvPr>
            <p:ph type="sldNum" sz="quarter" idx="10"/>
          </p:nvPr>
        </p:nvSpPr>
        <p:spPr/>
        <p:txBody>
          <a:bodyPr/>
          <a:lstStyle/>
          <a:p>
            <a:fld id="{E0746DE6-3336-457D-A091-FA20AC1C536E}" type="slidenum">
              <a:rPr lang="en-US" smtClean="0"/>
              <a:t>4</a:t>
            </a:fld>
            <a:endParaRPr lang="en-US"/>
          </a:p>
        </p:txBody>
      </p:sp>
    </p:spTree>
    <p:extLst>
      <p:ext uri="{BB962C8B-B14F-4D97-AF65-F5344CB8AC3E}">
        <p14:creationId xmlns:p14="http://schemas.microsoft.com/office/powerpoint/2010/main" val="8961842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was a major client concern. The system uses strong encryption and password protection, account lockouts for repeated failures, and strict RBAC to prevent unauthorized access. Payment data is processed securely through Stripe, which ensures PCI compliance. Daily backups and logs help maintain reliability and accountability.</a:t>
            </a:r>
          </a:p>
        </p:txBody>
      </p:sp>
      <p:sp>
        <p:nvSpPr>
          <p:cNvPr id="4" name="Slide Number Placeholder 3"/>
          <p:cNvSpPr>
            <a:spLocks noGrp="1"/>
          </p:cNvSpPr>
          <p:nvPr>
            <p:ph type="sldNum" sz="quarter" idx="10"/>
          </p:nvPr>
        </p:nvSpPr>
        <p:spPr/>
        <p:txBody>
          <a:bodyPr/>
          <a:lstStyle/>
          <a:p>
            <a:fld id="{E0746DE6-3336-457D-A091-FA20AC1C536E}" type="slidenum">
              <a:rPr lang="en-US" smtClean="0"/>
              <a:t>5</a:t>
            </a:fld>
            <a:endParaRPr lang="en-US"/>
          </a:p>
        </p:txBody>
      </p:sp>
    </p:spTree>
    <p:extLst>
      <p:ext uri="{BB962C8B-B14F-4D97-AF65-F5344CB8AC3E}">
        <p14:creationId xmlns:p14="http://schemas.microsoft.com/office/powerpoint/2010/main" val="34916115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For this release, the system focuses on core functionality — web scheduling and online test prep. Mobile apps, internationalization, and DMV test integration are planned for later phases. These limitations keep the first release achievable within scope and budget.</a:t>
            </a:r>
          </a:p>
        </p:txBody>
      </p:sp>
      <p:sp>
        <p:nvSpPr>
          <p:cNvPr id="4" name="Slide Number Placeholder 3"/>
          <p:cNvSpPr>
            <a:spLocks noGrp="1"/>
          </p:cNvSpPr>
          <p:nvPr>
            <p:ph type="sldNum" sz="quarter" idx="10"/>
          </p:nvPr>
        </p:nvSpPr>
        <p:spPr/>
        <p:txBody>
          <a:bodyPr/>
          <a:lstStyle/>
          <a:p>
            <a:fld id="{E0746DE6-3336-457D-A091-FA20AC1C536E}" type="slidenum">
              <a:rPr lang="en-US" smtClean="0"/>
              <a:t>6</a:t>
            </a:fld>
            <a:endParaRPr lang="en-US"/>
          </a:p>
        </p:txBody>
      </p:sp>
    </p:spTree>
    <p:extLst>
      <p:ext uri="{BB962C8B-B14F-4D97-AF65-F5344CB8AC3E}">
        <p14:creationId xmlns:p14="http://schemas.microsoft.com/office/powerpoint/2010/main" val="9706606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0391AB-F383-4237-A071-AD1C6E9246D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F6636DA-4FDE-4B32-8CCE-37EFA3E7579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0F87932-8FF0-4DF1-A776-9A3CE37618A7}"/>
              </a:ext>
            </a:extLst>
          </p:cNvPr>
          <p:cNvSpPr>
            <a:spLocks noGrp="1"/>
          </p:cNvSpPr>
          <p:nvPr>
            <p:ph type="dt" sz="half" idx="10"/>
          </p:nvPr>
        </p:nvSpPr>
        <p:spPr/>
        <p:txBody>
          <a:bodyPr/>
          <a:lstStyle/>
          <a:p>
            <a:fld id="{5D6495F3-B757-4FAF-98AA-EDA7D1485485}" type="datetimeFigureOut">
              <a:rPr lang="en-US" smtClean="0"/>
              <a:t>10/19/2025</a:t>
            </a:fld>
            <a:endParaRPr lang="en-US"/>
          </a:p>
        </p:txBody>
      </p:sp>
      <p:sp>
        <p:nvSpPr>
          <p:cNvPr id="5" name="Footer Placeholder 4">
            <a:extLst>
              <a:ext uri="{FF2B5EF4-FFF2-40B4-BE49-F238E27FC236}">
                <a16:creationId xmlns:a16="http://schemas.microsoft.com/office/drawing/2014/main" id="{5F38FAB8-C9F1-4DBB-B355-D8DEE37065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4490E3-D8E8-4766-9104-14009BF5636F}"/>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4569019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CBC967-18DB-4664-9B4D-06177FB946B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ADF7174-64B4-4D8F-BF44-3DD1F66CAD0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5CD83D3-86C4-482F-A2DC-B4C55DBF3F7A}"/>
              </a:ext>
            </a:extLst>
          </p:cNvPr>
          <p:cNvSpPr>
            <a:spLocks noGrp="1"/>
          </p:cNvSpPr>
          <p:nvPr>
            <p:ph type="dt" sz="half" idx="10"/>
          </p:nvPr>
        </p:nvSpPr>
        <p:spPr/>
        <p:txBody>
          <a:bodyPr/>
          <a:lstStyle/>
          <a:p>
            <a:fld id="{5D6495F3-B757-4FAF-98AA-EDA7D1485485}" type="datetimeFigureOut">
              <a:rPr lang="en-US" smtClean="0"/>
              <a:t>10/19/2025</a:t>
            </a:fld>
            <a:endParaRPr lang="en-US"/>
          </a:p>
        </p:txBody>
      </p:sp>
      <p:sp>
        <p:nvSpPr>
          <p:cNvPr id="5" name="Footer Placeholder 4">
            <a:extLst>
              <a:ext uri="{FF2B5EF4-FFF2-40B4-BE49-F238E27FC236}">
                <a16:creationId xmlns:a16="http://schemas.microsoft.com/office/drawing/2014/main" id="{DCF05BE2-6C23-4CB4-A63E-457E635BF2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097965-24FE-4C07-BE16-69AE439950EF}"/>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2757682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33394D-04EF-440C-B08B-114464B315C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BEBE3F6-F021-4D6B-8B0D-EF74D7461F9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196233C-6806-4593-91C0-CF4ECD84A601}"/>
              </a:ext>
            </a:extLst>
          </p:cNvPr>
          <p:cNvSpPr>
            <a:spLocks noGrp="1"/>
          </p:cNvSpPr>
          <p:nvPr>
            <p:ph type="dt" sz="half" idx="10"/>
          </p:nvPr>
        </p:nvSpPr>
        <p:spPr/>
        <p:txBody>
          <a:bodyPr/>
          <a:lstStyle/>
          <a:p>
            <a:fld id="{5D6495F3-B757-4FAF-98AA-EDA7D1485485}" type="datetimeFigureOut">
              <a:rPr lang="en-US" smtClean="0"/>
              <a:t>10/19/2025</a:t>
            </a:fld>
            <a:endParaRPr lang="en-US"/>
          </a:p>
        </p:txBody>
      </p:sp>
      <p:sp>
        <p:nvSpPr>
          <p:cNvPr id="5" name="Footer Placeholder 4">
            <a:extLst>
              <a:ext uri="{FF2B5EF4-FFF2-40B4-BE49-F238E27FC236}">
                <a16:creationId xmlns:a16="http://schemas.microsoft.com/office/drawing/2014/main" id="{963A761E-2D3A-4397-A82C-2F3B981DE0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297E71-B59F-4260-B01B-2B7CEB0896B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6393263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94DFCB-DD40-4637-9CAB-2BAF24231C7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394065F-4B44-4622-98EE-166F936489F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7AF1249-B890-4466-9E24-84A24907008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50FA9B4-D282-452F-B78A-FF5873ACF45A}"/>
              </a:ext>
            </a:extLst>
          </p:cNvPr>
          <p:cNvSpPr>
            <a:spLocks noGrp="1"/>
          </p:cNvSpPr>
          <p:nvPr>
            <p:ph type="dt" sz="half" idx="10"/>
          </p:nvPr>
        </p:nvSpPr>
        <p:spPr/>
        <p:txBody>
          <a:bodyPr/>
          <a:lstStyle/>
          <a:p>
            <a:fld id="{5D6495F3-B757-4FAF-98AA-EDA7D1485485}" type="datetimeFigureOut">
              <a:rPr lang="en-US" smtClean="0"/>
              <a:t>10/19/2025</a:t>
            </a:fld>
            <a:endParaRPr lang="en-US"/>
          </a:p>
        </p:txBody>
      </p:sp>
      <p:sp>
        <p:nvSpPr>
          <p:cNvPr id="6" name="Footer Placeholder 5">
            <a:extLst>
              <a:ext uri="{FF2B5EF4-FFF2-40B4-BE49-F238E27FC236}">
                <a16:creationId xmlns:a16="http://schemas.microsoft.com/office/drawing/2014/main" id="{6E9B0F13-A139-4B66-9544-16480800F68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8791D0-EC30-4D8C-8764-475D8DB34F19}"/>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0815023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33AA7D-15D2-4D5F-B1C4-501073416DE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5E80A0E-25B9-4E8E-8B0D-201E1C56409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189B111-0CA0-47CD-9F0B-DBCBA3AE3C2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EF0E02D-3176-4B85-ACB6-721F2682742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C7D9317-BBE1-4F36-82FE-E348F6F18A9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837DDCB-69F8-49FA-A111-C8AB271389E7}"/>
              </a:ext>
            </a:extLst>
          </p:cNvPr>
          <p:cNvSpPr>
            <a:spLocks noGrp="1"/>
          </p:cNvSpPr>
          <p:nvPr>
            <p:ph type="dt" sz="half" idx="10"/>
          </p:nvPr>
        </p:nvSpPr>
        <p:spPr/>
        <p:txBody>
          <a:bodyPr/>
          <a:lstStyle/>
          <a:p>
            <a:fld id="{5D6495F3-B757-4FAF-98AA-EDA7D1485485}" type="datetimeFigureOut">
              <a:rPr lang="en-US" smtClean="0"/>
              <a:t>10/19/2025</a:t>
            </a:fld>
            <a:endParaRPr lang="en-US"/>
          </a:p>
        </p:txBody>
      </p:sp>
      <p:sp>
        <p:nvSpPr>
          <p:cNvPr id="8" name="Footer Placeholder 7">
            <a:extLst>
              <a:ext uri="{FF2B5EF4-FFF2-40B4-BE49-F238E27FC236}">
                <a16:creationId xmlns:a16="http://schemas.microsoft.com/office/drawing/2014/main" id="{4A18B0CD-1F68-412E-9232-F267114CA75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29B21FC-12CC-472D-BC38-EF413158CC5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8941432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0F51AB-8384-4E67-914C-B39484AD233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0909660-3861-4545-BF68-9ED039B5D0F0}"/>
              </a:ext>
            </a:extLst>
          </p:cNvPr>
          <p:cNvSpPr>
            <a:spLocks noGrp="1"/>
          </p:cNvSpPr>
          <p:nvPr>
            <p:ph type="dt" sz="half" idx="10"/>
          </p:nvPr>
        </p:nvSpPr>
        <p:spPr/>
        <p:txBody>
          <a:bodyPr/>
          <a:lstStyle/>
          <a:p>
            <a:fld id="{5D6495F3-B757-4FAF-98AA-EDA7D1485485}" type="datetimeFigureOut">
              <a:rPr lang="en-US" smtClean="0"/>
              <a:t>10/19/2025</a:t>
            </a:fld>
            <a:endParaRPr lang="en-US"/>
          </a:p>
        </p:txBody>
      </p:sp>
      <p:sp>
        <p:nvSpPr>
          <p:cNvPr id="4" name="Footer Placeholder 3">
            <a:extLst>
              <a:ext uri="{FF2B5EF4-FFF2-40B4-BE49-F238E27FC236}">
                <a16:creationId xmlns:a16="http://schemas.microsoft.com/office/drawing/2014/main" id="{FDDD5392-AC3A-4EAF-ADE6-B6CF4B50ACA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5679880-BF48-4F4D-B8B3-4E99FC415FF9}"/>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3514890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7F98E25-CF37-4F73-9E22-210238167867}"/>
              </a:ext>
            </a:extLst>
          </p:cNvPr>
          <p:cNvSpPr>
            <a:spLocks noGrp="1"/>
          </p:cNvSpPr>
          <p:nvPr>
            <p:ph type="dt" sz="half" idx="10"/>
          </p:nvPr>
        </p:nvSpPr>
        <p:spPr/>
        <p:txBody>
          <a:bodyPr/>
          <a:lstStyle/>
          <a:p>
            <a:fld id="{5D6495F3-B757-4FAF-98AA-EDA7D1485485}" type="datetimeFigureOut">
              <a:rPr lang="en-US" smtClean="0"/>
              <a:t>10/19/2025</a:t>
            </a:fld>
            <a:endParaRPr lang="en-US"/>
          </a:p>
        </p:txBody>
      </p:sp>
      <p:sp>
        <p:nvSpPr>
          <p:cNvPr id="3" name="Footer Placeholder 2">
            <a:extLst>
              <a:ext uri="{FF2B5EF4-FFF2-40B4-BE49-F238E27FC236}">
                <a16:creationId xmlns:a16="http://schemas.microsoft.com/office/drawing/2014/main" id="{89D7A0E1-38AB-4FDA-8EC1-2D7617909C1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8A8E424-5A91-4557-9ADF-4A9422A0690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4978027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6BB935-0427-44CC-A384-333EAD83175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CB9DCF6-55CF-43EE-B135-BFC4B4D403C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337538E-A112-4E8F-A445-1A06B0C3530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30D413-9505-4ED8-BFF1-5141BE9EE3C4}"/>
              </a:ext>
            </a:extLst>
          </p:cNvPr>
          <p:cNvSpPr>
            <a:spLocks noGrp="1"/>
          </p:cNvSpPr>
          <p:nvPr>
            <p:ph type="dt" sz="half" idx="10"/>
          </p:nvPr>
        </p:nvSpPr>
        <p:spPr/>
        <p:txBody>
          <a:bodyPr/>
          <a:lstStyle/>
          <a:p>
            <a:fld id="{5D6495F3-B757-4FAF-98AA-EDA7D1485485}" type="datetimeFigureOut">
              <a:rPr lang="en-US" smtClean="0"/>
              <a:t>10/19/2025</a:t>
            </a:fld>
            <a:endParaRPr lang="en-US"/>
          </a:p>
        </p:txBody>
      </p:sp>
      <p:sp>
        <p:nvSpPr>
          <p:cNvPr id="6" name="Footer Placeholder 5">
            <a:extLst>
              <a:ext uri="{FF2B5EF4-FFF2-40B4-BE49-F238E27FC236}">
                <a16:creationId xmlns:a16="http://schemas.microsoft.com/office/drawing/2014/main" id="{F60815B0-4528-4FA2-8472-8F19C0F1650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5C9FCEF-4406-4552-BFE4-6DA3761357F2}"/>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7540635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CE22C-69D4-49EC-8858-787B3C67B0D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46A4341-3C0B-4025-AE17-8F0F8FABF5D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DEF5FF01-E0B6-419C-ABCC-70844E4EAC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501218-FFD7-4F25-B220-F5DE5F70693C}"/>
              </a:ext>
            </a:extLst>
          </p:cNvPr>
          <p:cNvSpPr>
            <a:spLocks noGrp="1"/>
          </p:cNvSpPr>
          <p:nvPr>
            <p:ph type="dt" sz="half" idx="10"/>
          </p:nvPr>
        </p:nvSpPr>
        <p:spPr/>
        <p:txBody>
          <a:bodyPr/>
          <a:lstStyle/>
          <a:p>
            <a:fld id="{5D6495F3-B757-4FAF-98AA-EDA7D1485485}" type="datetimeFigureOut">
              <a:rPr lang="en-US" smtClean="0"/>
              <a:t>10/19/2025</a:t>
            </a:fld>
            <a:endParaRPr lang="en-US"/>
          </a:p>
        </p:txBody>
      </p:sp>
      <p:sp>
        <p:nvSpPr>
          <p:cNvPr id="6" name="Footer Placeholder 5">
            <a:extLst>
              <a:ext uri="{FF2B5EF4-FFF2-40B4-BE49-F238E27FC236}">
                <a16:creationId xmlns:a16="http://schemas.microsoft.com/office/drawing/2014/main" id="{9687CBFB-34A6-49D8-A1D2-45DF38876EE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C2726A4-D33A-486A-B120-648AF3D8BA76}"/>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26447433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3B8678-553E-4A5B-8CFE-5DB358BDF35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43AF303-1F73-4575-83E6-561589F1632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36EC56-7DCF-400D-A871-C26291EB10AD}"/>
              </a:ext>
            </a:extLst>
          </p:cNvPr>
          <p:cNvSpPr>
            <a:spLocks noGrp="1"/>
          </p:cNvSpPr>
          <p:nvPr>
            <p:ph type="dt" sz="half" idx="10"/>
          </p:nvPr>
        </p:nvSpPr>
        <p:spPr/>
        <p:txBody>
          <a:bodyPr/>
          <a:lstStyle/>
          <a:p>
            <a:fld id="{5D6495F3-B757-4FAF-98AA-EDA7D1485485}" type="datetimeFigureOut">
              <a:rPr lang="en-US" smtClean="0"/>
              <a:t>10/19/2025</a:t>
            </a:fld>
            <a:endParaRPr lang="en-US"/>
          </a:p>
        </p:txBody>
      </p:sp>
      <p:sp>
        <p:nvSpPr>
          <p:cNvPr id="5" name="Footer Placeholder 4">
            <a:extLst>
              <a:ext uri="{FF2B5EF4-FFF2-40B4-BE49-F238E27FC236}">
                <a16:creationId xmlns:a16="http://schemas.microsoft.com/office/drawing/2014/main" id="{17FFAC5B-7C77-4F8C-ADB0-8D208A2EB30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2F48AF-AB8F-4DD2-BC77-7E2F42AD3B87}"/>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1873178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20ED820-BFE6-41B5-8064-984037A999A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CA27FEA-5359-474A-B4F8-FF510DD7489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4DD33D-563C-4B8C-B8C1-625FF5C5B85D}"/>
              </a:ext>
            </a:extLst>
          </p:cNvPr>
          <p:cNvSpPr>
            <a:spLocks noGrp="1"/>
          </p:cNvSpPr>
          <p:nvPr>
            <p:ph type="dt" sz="half" idx="10"/>
          </p:nvPr>
        </p:nvSpPr>
        <p:spPr/>
        <p:txBody>
          <a:bodyPr/>
          <a:lstStyle/>
          <a:p>
            <a:fld id="{5D6495F3-B757-4FAF-98AA-EDA7D1485485}" type="datetimeFigureOut">
              <a:rPr lang="en-US" smtClean="0"/>
              <a:t>10/19/2025</a:t>
            </a:fld>
            <a:endParaRPr lang="en-US"/>
          </a:p>
        </p:txBody>
      </p:sp>
      <p:sp>
        <p:nvSpPr>
          <p:cNvPr id="5" name="Footer Placeholder 4">
            <a:extLst>
              <a:ext uri="{FF2B5EF4-FFF2-40B4-BE49-F238E27FC236}">
                <a16:creationId xmlns:a16="http://schemas.microsoft.com/office/drawing/2014/main" id="{40471877-89FD-46BE-832F-C5660A5567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6E675F-CC4D-48CF-90C8-53829EE08B8C}"/>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24546216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C07C8C3-4165-4353-ABF2-492454AF91E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89AA46A-3C66-4E4A-9907-225E50ABB7A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57F8214-A11A-4309-9D51-44F35987D1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D6495F3-B757-4FAF-98AA-EDA7D1485485}" type="datetimeFigureOut">
              <a:rPr lang="en-US" smtClean="0"/>
              <a:t>10/19/2025</a:t>
            </a:fld>
            <a:endParaRPr lang="en-US"/>
          </a:p>
        </p:txBody>
      </p:sp>
      <p:sp>
        <p:nvSpPr>
          <p:cNvPr id="5" name="Footer Placeholder 4">
            <a:extLst>
              <a:ext uri="{FF2B5EF4-FFF2-40B4-BE49-F238E27FC236}">
                <a16:creationId xmlns:a16="http://schemas.microsoft.com/office/drawing/2014/main" id="{D6A334EB-8260-4F13-9553-5A8593D9DC6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0C1EF96-E028-4E68-864E-9B77CF9F25E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E1939C1-24D7-49E9-A58A-7960365209F5}" type="slidenum">
              <a:rPr lang="en-US" smtClean="0"/>
              <a:t>‹#›</a:t>
            </a:fld>
            <a:endParaRPr lang="en-US"/>
          </a:p>
        </p:txBody>
      </p:sp>
    </p:spTree>
    <p:extLst>
      <p:ext uri="{BB962C8B-B14F-4D97-AF65-F5344CB8AC3E}">
        <p14:creationId xmlns:p14="http://schemas.microsoft.com/office/powerpoint/2010/main" val="18259450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3.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4.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5.xml"/><Relationship Id="rId5" Type="http://schemas.openxmlformats.org/officeDocument/2006/relationships/image" Target="../media/image4.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7.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3962611-DFD5-4092-AAFD-559E3DFCE2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5488" y="0"/>
            <a:ext cx="10910292"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2270F1FA-0425-408F-9861-80BF5AFB276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3045368" y="2043663"/>
            <a:ext cx="6105194" cy="2031055"/>
          </a:xfrm>
        </p:spPr>
        <p:txBody>
          <a:bodyPr>
            <a:normAutofit/>
          </a:bodyPr>
          <a:lstStyle/>
          <a:p>
            <a:r>
              <a:rPr lang="en-US" dirty="0" err="1">
                <a:solidFill>
                  <a:srgbClr val="FFFFFF"/>
                </a:solidFill>
              </a:rPr>
              <a:t>DriverPass</a:t>
            </a:r>
            <a:br>
              <a:rPr lang="en-US" dirty="0">
                <a:solidFill>
                  <a:srgbClr val="FFFFFF"/>
                </a:solidFill>
              </a:rPr>
            </a:br>
            <a:r>
              <a:rPr lang="en-US" dirty="0">
                <a:solidFill>
                  <a:srgbClr val="FFFFFF"/>
                </a:solidFill>
              </a:rPr>
              <a:t>System Analysis</a:t>
            </a:r>
          </a:p>
        </p:txBody>
      </p:sp>
      <p:sp>
        <p:nvSpPr>
          <p:cNvPr id="3" name="Content Placeholder 2"/>
          <p:cNvSpPr>
            <a:spLocks noGrp="1"/>
          </p:cNvSpPr>
          <p:nvPr>
            <p:ph type="subTitle" idx="1"/>
          </p:nvPr>
        </p:nvSpPr>
        <p:spPr>
          <a:xfrm>
            <a:off x="3045368" y="4074718"/>
            <a:ext cx="6105194" cy="682079"/>
          </a:xfrm>
        </p:spPr>
        <p:txBody>
          <a:bodyPr>
            <a:normAutofit/>
          </a:bodyPr>
          <a:lstStyle/>
          <a:p>
            <a:r>
              <a:rPr lang="en-US" dirty="0">
                <a:solidFill>
                  <a:srgbClr val="FFFFFF"/>
                </a:solidFill>
              </a:rPr>
              <a:t>[Ben Dixon]</a:t>
            </a:r>
            <a:endParaRPr dirty="0">
              <a:solidFill>
                <a:srgbClr val="FFFFFF"/>
              </a:solidFill>
            </a:endParaRPr>
          </a:p>
        </p:txBody>
      </p:sp>
    </p:spTree>
    <p:custDataLst>
      <p:tags r:id="rId1"/>
    </p:custDataLst>
    <p:extLst>
      <p:ext uri="{BB962C8B-B14F-4D97-AF65-F5344CB8AC3E}">
        <p14:creationId xmlns:p14="http://schemas.microsoft.com/office/powerpoint/2010/main" val="409182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System Requirements</a:t>
            </a:r>
          </a:p>
        </p:txBody>
      </p:sp>
      <p:sp>
        <p:nvSpPr>
          <p:cNvPr id="4" name="Rectangle 1">
            <a:extLst>
              <a:ext uri="{FF2B5EF4-FFF2-40B4-BE49-F238E27FC236}">
                <a16:creationId xmlns:a16="http://schemas.microsoft.com/office/drawing/2014/main" id="{1690DE11-944C-8053-2D1B-FC061BC97317}"/>
              </a:ext>
            </a:extLst>
          </p:cNvPr>
          <p:cNvSpPr>
            <a:spLocks noGrp="1" noChangeArrowheads="1"/>
          </p:cNvSpPr>
          <p:nvPr>
            <p:ph idx="1"/>
          </p:nvPr>
        </p:nvSpPr>
        <p:spPr bwMode="auto">
          <a:xfrm>
            <a:off x="4949318" y="1951417"/>
            <a:ext cx="7324697"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Online platform for driver test preparation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Students can register, buy packages, schedule 2-hour lessons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Instructors manage availability and record lesson notes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Secretaries handle scheduling and confirmations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Admins and owners manage users, updates, and reports</a:t>
            </a:r>
          </a:p>
        </p:txBody>
      </p:sp>
    </p:spTree>
    <p:custDataLst>
      <p:tags r:id="rId1"/>
    </p:custDataLst>
    <p:extLst>
      <p:ext uri="{BB962C8B-B14F-4D97-AF65-F5344CB8AC3E}">
        <p14:creationId xmlns:p14="http://schemas.microsoft.com/office/powerpoint/2010/main" val="18658859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Use Case Diagram</a:t>
            </a:r>
          </a:p>
        </p:txBody>
      </p:sp>
      <p:pic>
        <p:nvPicPr>
          <p:cNvPr id="5" name="Content Placeholder 4">
            <a:extLst>
              <a:ext uri="{FF2B5EF4-FFF2-40B4-BE49-F238E27FC236}">
                <a16:creationId xmlns:a16="http://schemas.microsoft.com/office/drawing/2014/main" id="{82DF1E8D-68CE-2D49-A5EF-0C480F89F0B9}"/>
              </a:ext>
            </a:extLst>
          </p:cNvPr>
          <p:cNvPicPr>
            <a:picLocks noGrp="1" noChangeAspect="1"/>
          </p:cNvPicPr>
          <p:nvPr>
            <p:ph idx="1"/>
          </p:nvPr>
        </p:nvPicPr>
        <p:blipFill>
          <a:blip r:embed="rId5"/>
          <a:stretch>
            <a:fillRect/>
          </a:stretch>
        </p:blipFill>
        <p:spPr>
          <a:xfrm>
            <a:off x="7191857" y="801688"/>
            <a:ext cx="3104187" cy="5230812"/>
          </a:xfrm>
          <a:prstGeom prst="rect">
            <a:avLst/>
          </a:prstGeom>
        </p:spPr>
      </p:pic>
    </p:spTree>
    <p:custDataLst>
      <p:tags r:id="rId1"/>
    </p:custDataLst>
    <p:extLst>
      <p:ext uri="{BB962C8B-B14F-4D97-AF65-F5344CB8AC3E}">
        <p14:creationId xmlns:p14="http://schemas.microsoft.com/office/powerpoint/2010/main" val="27764253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Activity</a:t>
            </a:r>
            <a:br>
              <a:rPr lang="en-US" dirty="0">
                <a:solidFill>
                  <a:schemeClr val="bg1"/>
                </a:solidFill>
              </a:rPr>
            </a:br>
            <a:r>
              <a:rPr lang="en-US" dirty="0">
                <a:solidFill>
                  <a:schemeClr val="bg1"/>
                </a:solidFill>
              </a:rPr>
              <a:t>Diagram</a:t>
            </a:r>
          </a:p>
        </p:txBody>
      </p:sp>
      <p:pic>
        <p:nvPicPr>
          <p:cNvPr id="5" name="Content Placeholder 4">
            <a:extLst>
              <a:ext uri="{FF2B5EF4-FFF2-40B4-BE49-F238E27FC236}">
                <a16:creationId xmlns:a16="http://schemas.microsoft.com/office/drawing/2014/main" id="{C5D1278D-89F5-FC89-51CD-61424A02B5FD}"/>
              </a:ext>
            </a:extLst>
          </p:cNvPr>
          <p:cNvPicPr>
            <a:picLocks noGrp="1" noChangeAspect="1"/>
          </p:cNvPicPr>
          <p:nvPr>
            <p:ph idx="1"/>
          </p:nvPr>
        </p:nvPicPr>
        <p:blipFill>
          <a:blip r:embed="rId5"/>
          <a:stretch>
            <a:fillRect/>
          </a:stretch>
        </p:blipFill>
        <p:spPr>
          <a:xfrm>
            <a:off x="6091238" y="2168648"/>
            <a:ext cx="5305425" cy="2496891"/>
          </a:xfrm>
          <a:prstGeom prst="rect">
            <a:avLst/>
          </a:prstGeom>
        </p:spPr>
      </p:pic>
    </p:spTree>
    <p:custDataLst>
      <p:tags r:id="rId1"/>
    </p:custDataLst>
    <p:extLst>
      <p:ext uri="{BB962C8B-B14F-4D97-AF65-F5344CB8AC3E}">
        <p14:creationId xmlns:p14="http://schemas.microsoft.com/office/powerpoint/2010/main" val="35640556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Security</a:t>
            </a:r>
          </a:p>
        </p:txBody>
      </p:sp>
      <p:sp>
        <p:nvSpPr>
          <p:cNvPr id="4" name="Rectangle 1">
            <a:extLst>
              <a:ext uri="{FF2B5EF4-FFF2-40B4-BE49-F238E27FC236}">
                <a16:creationId xmlns:a16="http://schemas.microsoft.com/office/drawing/2014/main" id="{3E1B0C24-6854-FD7F-38DB-B0CCFD94FC54}"/>
              </a:ext>
            </a:extLst>
          </p:cNvPr>
          <p:cNvSpPr>
            <a:spLocks noGrp="1" noChangeArrowheads="1"/>
          </p:cNvSpPr>
          <p:nvPr>
            <p:ph idx="1"/>
          </p:nvPr>
        </p:nvSpPr>
        <p:spPr bwMode="auto">
          <a:xfrm>
            <a:off x="6091238" y="1847435"/>
            <a:ext cx="4612160"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HTTPS encryption and secure logins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Account lockout after failed attempts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Role-based access control (RBAC)</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Password hashing (</a:t>
            </a:r>
            <a:r>
              <a:rPr kumimoji="0" lang="en-US" altLang="en-US" sz="1800" b="0" i="0" u="none" strike="noStrike" cap="none" normalizeH="0" baseline="0" dirty="0" err="1">
                <a:ln>
                  <a:noFill/>
                </a:ln>
                <a:solidFill>
                  <a:schemeClr val="tx1"/>
                </a:solidFill>
                <a:effectLst/>
                <a:latin typeface="Arial" panose="020B0604020202020204" pitchFamily="34" charset="0"/>
              </a:rPr>
              <a:t>bcrypt</a:t>
            </a:r>
            <a:r>
              <a:rPr kumimoji="0" lang="en-US" altLang="en-US" sz="1800" b="0" i="0" u="none" strike="noStrike" cap="none" normalizeH="0" baseline="0" dirty="0">
                <a:ln>
                  <a:noFill/>
                </a:ln>
                <a:solidFill>
                  <a:schemeClr val="tx1"/>
                </a:solidFill>
                <a:effectLst/>
                <a:latin typeface="Arial" panose="020B0604020202020204" pitchFamily="34" charset="0"/>
              </a:rPr>
              <a:t> / Argon2)</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Audit logs and data backups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Stripe payment integration (PCI compliant)</a:t>
            </a:r>
          </a:p>
        </p:txBody>
      </p:sp>
    </p:spTree>
    <p:custDataLst>
      <p:tags r:id="rId1"/>
    </p:custDataLst>
    <p:extLst>
      <p:ext uri="{BB962C8B-B14F-4D97-AF65-F5344CB8AC3E}">
        <p14:creationId xmlns:p14="http://schemas.microsoft.com/office/powerpoint/2010/main" val="3768431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System Limitations</a:t>
            </a:r>
          </a:p>
        </p:txBody>
      </p:sp>
      <p:sp>
        <p:nvSpPr>
          <p:cNvPr id="4" name="Rectangle 1">
            <a:extLst>
              <a:ext uri="{FF2B5EF4-FFF2-40B4-BE49-F238E27FC236}">
                <a16:creationId xmlns:a16="http://schemas.microsoft.com/office/drawing/2014/main" id="{5A1486BC-33CA-66E7-9FB8-106917268BBB}"/>
              </a:ext>
            </a:extLst>
          </p:cNvPr>
          <p:cNvSpPr>
            <a:spLocks noGrp="1" noChangeArrowheads="1"/>
          </p:cNvSpPr>
          <p:nvPr>
            <p:ph type="body" idx="1"/>
          </p:nvPr>
        </p:nvSpPr>
        <p:spPr bwMode="auto">
          <a:xfrm>
            <a:off x="6091238" y="2401432"/>
            <a:ext cx="4535216"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Web application only (no mobile app yet)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Payments limited to credit/debit cards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English language and US time zones only</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DMV test scheduling not integrated</a:t>
            </a:r>
          </a:p>
        </p:txBody>
      </p:sp>
    </p:spTree>
    <p:custDataLst>
      <p:tags r:id="rId1"/>
    </p:custDataLst>
    <p:extLst>
      <p:ext uri="{BB962C8B-B14F-4D97-AF65-F5344CB8AC3E}">
        <p14:creationId xmlns:p14="http://schemas.microsoft.com/office/powerpoint/2010/main" val="322514164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WebD281</Template>
  <TotalTime>1352</TotalTime>
  <Words>458</Words>
  <Application>Microsoft Office PowerPoint</Application>
  <PresentationFormat>Widescreen</PresentationFormat>
  <Paragraphs>46</Paragraphs>
  <Slides>6</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Calibri Light</vt:lpstr>
      <vt:lpstr>Office Theme</vt:lpstr>
      <vt:lpstr>DriverPass System Analysis</vt:lpstr>
      <vt:lpstr>System Requirements</vt:lpstr>
      <vt:lpstr>Use Case Diagram</vt:lpstr>
      <vt:lpstr>Activity Diagram</vt:lpstr>
      <vt:lpstr>Security</vt:lpstr>
      <vt:lpstr>System Limitations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Systems Analysis</dc:title>
  <dc:creator>Loay Alnaji</dc:creator>
  <cp:lastModifiedBy>Ben Dixon</cp:lastModifiedBy>
  <cp:revision>21</cp:revision>
  <dcterms:created xsi:type="dcterms:W3CDTF">2019-10-14T02:36:52Z</dcterms:created>
  <dcterms:modified xsi:type="dcterms:W3CDTF">2025-10-20T02:01:18Z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17B2C008-CF5F-4D7E-BF2C-A283A0269B28</vt:lpwstr>
  </property>
  <property fmtid="{D5CDD505-2E9C-101B-9397-08002B2CF9AE}" pid="3" name="ArticulatePath">
    <vt:lpwstr>CS 255 Client Presentation Template</vt:lpwstr>
  </property>
</Properties>
</file>